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us Jakarta Sans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229224"/>
            <a:ext cx="10972800" cy="1019175"/>
          </a:xfrm>
          <a:prstGeom prst="roundRect">
            <a:avLst>
              <a:gd name="adj" fmla="val 14953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2198333"/>
            <a:ext cx="6055312" cy="6049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800" b="1" i="0" u="none" dirty="0">
                <a:solidFill>
                  <a:srgbClr val="FFFFFF"/>
                </a:solidFill>
                <a:latin typeface="Plus Jakarta Sans"/>
              </a:rPr>
              <a:t>NETWORK TOPOLOGIES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77171"/>
            <a:ext cx="10572750" cy="700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800" b="1" i="0" u="none" dirty="0">
                <a:solidFill>
                  <a:srgbClr val="CBD5E1"/>
                </a:solidFill>
                <a:latin typeface="Plus Jakarta Sans"/>
              </a:rPr>
              <a:t>Understanding how computers are physically &amp; logically connected: Bus, Star &amp; Tree Topologies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5476875"/>
            <a:ext cx="4016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4A3B8"/>
                </a:solidFill>
                <a:latin typeface="Plus Jakarta Sans"/>
              </a:rPr>
              <a:t>PRESENTER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5737244"/>
            <a:ext cx="69724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FFFFFF"/>
                </a:solidFill>
                <a:latin typeface="Plus Jakarta Sans"/>
              </a:rPr>
              <a:t>Devesh</a:t>
            </a:r>
            <a:endParaRPr sz="18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9400" y="5476875"/>
            <a:ext cx="4016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4A3B8"/>
                </a:solidFill>
                <a:latin typeface="Plus Jakarta Sans"/>
              </a:rPr>
              <a:t>CLASS &amp;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400" y="5715000"/>
            <a:ext cx="40163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Class 12 -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7250" y="5476875"/>
            <a:ext cx="4016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4A3B8"/>
                </a:solidFill>
                <a:latin typeface="Plus Jakarta Sans"/>
              </a:rPr>
              <a:t>ROLL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7250" y="5715000"/>
            <a:ext cx="23403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FFFFFF"/>
                </a:solidFill>
                <a:latin typeface="Plus Jakarta Sans"/>
              </a:rPr>
              <a:t>17</a:t>
            </a:r>
            <a:endParaRPr sz="1800" b="1" i="0" u="none" dirty="0">
              <a:solidFill>
                <a:srgbClr val="FFFFFF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19262"/>
            <a:ext cx="5391150" cy="1462682"/>
          </a:xfrm>
          <a:prstGeom prst="roundRect">
            <a:avLst>
              <a:gd name="adj" fmla="val 911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1719262"/>
            <a:ext cx="5391150" cy="1462682"/>
          </a:xfrm>
          <a:prstGeom prst="roundRect">
            <a:avLst>
              <a:gd name="adj" fmla="val 911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2445"/>
            <a:ext cx="5391150" cy="1222771"/>
          </a:xfrm>
          <a:prstGeom prst="roundRect">
            <a:avLst>
              <a:gd name="adj" fmla="val 10905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372445"/>
            <a:ext cx="5391150" cy="1222771"/>
          </a:xfrm>
          <a:prstGeom prst="roundRect">
            <a:avLst>
              <a:gd name="adj" fmla="val 10905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785717"/>
            <a:ext cx="5391150" cy="1462682"/>
          </a:xfrm>
          <a:prstGeom prst="roundRect">
            <a:avLst>
              <a:gd name="adj" fmla="val 911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4785717"/>
            <a:ext cx="5391150" cy="1462682"/>
          </a:xfrm>
          <a:prstGeom prst="roundRect">
            <a:avLst>
              <a:gd name="adj" fmla="val 9116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162895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719262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1719262"/>
            <a:ext cx="57150" cy="146268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1700" y="1719262"/>
            <a:ext cx="19050" cy="1462682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0" y="3162895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1250" y="1719262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1719262"/>
            <a:ext cx="57150" cy="146268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563350" y="1719262"/>
            <a:ext cx="19050" cy="1462682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576167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3372445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3372445"/>
            <a:ext cx="57150" cy="1222771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1700" y="3372445"/>
            <a:ext cx="19050" cy="12227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1250" y="4576167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1250" y="3372445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1250" y="3372445"/>
            <a:ext cx="57150" cy="1222771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563350" y="3372445"/>
            <a:ext cx="19050" cy="12227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600" y="6229350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600" y="4785717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600" y="4785717"/>
            <a:ext cx="57150" cy="146268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81700" y="4785717"/>
            <a:ext cx="19050" cy="1462682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1250" y="6229350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1250" y="4785717"/>
            <a:ext cx="53911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1250" y="4785717"/>
            <a:ext cx="57150" cy="146268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563350" y="4785717"/>
            <a:ext cx="19050" cy="1462682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957387"/>
            <a:ext cx="209550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957387"/>
            <a:ext cx="238125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3610570"/>
            <a:ext cx="180975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3610570"/>
            <a:ext cx="209550" cy="2095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5023842"/>
            <a:ext cx="238125" cy="2095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5023842"/>
            <a:ext cx="209550" cy="2095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9600" y="733425"/>
            <a:ext cx="115824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lus Jakarta Sans"/>
              </a:rPr>
              <a:t>Key Networking Concepts &amp; Terms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350" y="2252662"/>
            <a:ext cx="4953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A unique 12-digit hexadecimal physical address (NIC card) burned into hardware to identify devices on a local network.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2252662"/>
            <a:ext cx="4953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Hardware devices placed at both ends of a Bus cable to absorb electrical signals and prevent signal reflection (bounce).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350" y="3905845"/>
            <a:ext cx="4953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The primary high-capacity transmission cable that carries data traffic between network branches or workstations.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3905845"/>
            <a:ext cx="4953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The central connection box in Star topologies that receives packets and directs them toward destination nodes.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350" y="5319117"/>
            <a:ext cx="4953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Any active device attached to a network (computer, printer, server) capable of sending or receiving data.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0" y="5319117"/>
            <a:ext cx="4953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Formatted units of digital data transmitted across a network, containing source MAC, target MAC, and payload.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9200" y="1928812"/>
            <a:ext cx="181272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MAC Address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29425" y="1928812"/>
            <a:ext cx="156269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Terminators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0625" y="3581995"/>
            <a:ext cx="221277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Backbone Cable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0850" y="3581995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Central Switch / 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7775" y="4995267"/>
            <a:ext cx="26253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Node / Workstation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850" y="4995267"/>
            <a:ext cx="161270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Data Packet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03040"/>
            <a:ext cx="10972800" cy="1329630"/>
          </a:xfrm>
          <a:prstGeom prst="roundRect">
            <a:avLst>
              <a:gd name="adj" fmla="val 8596"/>
            </a:avLst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581501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2A1704"/>
          </a:solidFill>
          <a:ln w="19050">
            <a:solidFill>
              <a:srgbClr val="7C2D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703040"/>
            <a:ext cx="76200" cy="132963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46888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346888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346888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5838676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716535"/>
            <a:ext cx="3009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3716535"/>
            <a:ext cx="30099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850" y="3716535"/>
            <a:ext cx="30099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79246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33425"/>
            <a:ext cx="115824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lus Jakarta Sans"/>
              </a:rPr>
              <a:t>What is a Computer Network?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1912590"/>
            <a:ext cx="112204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7DD3FC"/>
                </a:solidFill>
                <a:latin typeface="Plus Jakarta Sans"/>
              </a:rPr>
              <a:t>Core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2236440"/>
            <a:ext cx="104203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E0F2FE"/>
                </a:solidFill>
                <a:latin typeface="Plus Jakarta Sans"/>
              </a:rPr>
              <a:t>An interconnected collection of autonomous computers capable of exchanging data, sharing software, and accessing centralized hardware.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135635"/>
            <a:ext cx="39504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Data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4459485"/>
            <a:ext cx="31051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CBD5E1"/>
                </a:solidFill>
                <a:latin typeface="Plus Jakarta Sans"/>
              </a:rPr>
              <a:t>Instant digital file transfers across workstations.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1050" y="4135635"/>
            <a:ext cx="39504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Hardware 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1050" y="4459485"/>
            <a:ext cx="31051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Shared central printers, storage drives, and servers.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4850" y="4135635"/>
            <a:ext cx="38671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850" y="4459485"/>
            <a:ext cx="3105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CBD5E1"/>
                </a:solidFill>
                <a:latin typeface="Plus Jakarta Sans"/>
              </a:rPr>
              <a:t>High-speed messaging</a:t>
            </a:r>
            <a:r>
              <a:rPr lang="en-US" sz="1350" b="1" i="0" u="none" dirty="0">
                <a:solidFill>
                  <a:srgbClr val="CBD5E1"/>
                </a:solidFill>
                <a:latin typeface="Plus Jakarta Sans"/>
              </a:rPr>
              <a:t> and effective information exchange.</a:t>
            </a:r>
            <a:endParaRPr sz="1350" b="1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52550" y="5772001"/>
            <a:ext cx="63639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FDBA74"/>
                </a:solidFill>
                <a:latin typeface="Plus Jakarta Sans"/>
              </a:rPr>
              <a:t>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2550" y="5972026"/>
            <a:ext cx="85605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EDD5"/>
                </a:solidFill>
                <a:latin typeface="Plus Jakarta Sans"/>
              </a:rPr>
              <a:t>Can two standalone computers share a printer without forming a network?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47007"/>
            <a:ext cx="10972800" cy="1097160"/>
          </a:xfrm>
          <a:prstGeom prst="roundRect">
            <a:avLst>
              <a:gd name="adj" fmla="val 1389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247007"/>
            <a:ext cx="76200" cy="109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4324350"/>
            <a:ext cx="5257800" cy="2076450"/>
          </a:xfrm>
          <a:prstGeom prst="roundRect">
            <a:avLst>
              <a:gd name="adj" fmla="val 7339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467225"/>
            <a:ext cx="5334000" cy="1790700"/>
          </a:xfrm>
          <a:prstGeom prst="roundRect">
            <a:avLst>
              <a:gd name="adj" fmla="val 8510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6482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7910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4762500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490537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84318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33425"/>
            <a:ext cx="115824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lus Jakarta Sans"/>
              </a:rPr>
              <a:t>What is Network Topology?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475607"/>
            <a:ext cx="10382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38BDF8"/>
                </a:solidFill>
                <a:latin typeface="Plus Jakarta Sans"/>
              </a:rPr>
              <a:t>Network Topology</a:t>
            </a:r>
            <a:r>
              <a:rPr sz="1800" b="1" i="0" u="none">
                <a:solidFill>
                  <a:srgbClr val="FFFFFF"/>
                </a:solidFill>
                <a:latin typeface="Plus Jakarta Sans"/>
              </a:rPr>
              <a:t> refers to the geometric arrangement of nodes, interconnecting cables, and networking devices in a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5219700"/>
            <a:ext cx="4781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The physical placement of cables, computers, patch panels, and switches placed across the floor or building.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5362575"/>
            <a:ext cx="47815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The path that electronic signals take to travel across nodes regardless of physical device layout.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3050" y="4719637"/>
            <a:ext cx="3250406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lus Jakarta Sans"/>
              </a:rPr>
              <a:t>1. Physical 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1850" y="4862512"/>
            <a:ext cx="313789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lus Jakarta Sans"/>
              </a:rPr>
              <a:t>2. Logical Topology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74231"/>
            <a:ext cx="3479750" cy="2874168"/>
          </a:xfrm>
          <a:prstGeom prst="roundRect">
            <a:avLst>
              <a:gd name="adj" fmla="val 5302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3374231"/>
            <a:ext cx="3479750" cy="2874168"/>
          </a:xfrm>
          <a:prstGeom prst="roundRect">
            <a:avLst>
              <a:gd name="adj" fmla="val 5302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3374231"/>
            <a:ext cx="3479750" cy="2874168"/>
          </a:xfrm>
          <a:prstGeom prst="roundRect">
            <a:avLst>
              <a:gd name="adj" fmla="val 5302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219825"/>
            <a:ext cx="347975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74231"/>
            <a:ext cx="3479750" cy="76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374231"/>
            <a:ext cx="28575" cy="2874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60775" y="3374231"/>
            <a:ext cx="28575" cy="2874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6050" y="6219825"/>
            <a:ext cx="347975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6050" y="3374231"/>
            <a:ext cx="3479750" cy="762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6050" y="3374231"/>
            <a:ext cx="28575" cy="287416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07225" y="3374231"/>
            <a:ext cx="28575" cy="2874168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02500" y="6219825"/>
            <a:ext cx="3479750" cy="28575"/>
          </a:xfrm>
          <a:prstGeom prst="rect">
            <a:avLst/>
          </a:prstGeom>
          <a:solidFill>
            <a:srgbClr val="783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2500" y="3374231"/>
            <a:ext cx="347975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2500" y="3374231"/>
            <a:ext cx="28575" cy="2874168"/>
          </a:xfrm>
          <a:prstGeom prst="rect">
            <a:avLst/>
          </a:prstGeom>
          <a:solidFill>
            <a:srgbClr val="783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53676" y="3374231"/>
            <a:ext cx="28575" cy="2874168"/>
          </a:xfrm>
          <a:prstGeom prst="rect">
            <a:avLst/>
          </a:prstGeom>
          <a:solidFill>
            <a:srgbClr val="783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717131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25" y="3717131"/>
            <a:ext cx="3429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775" y="3717131"/>
            <a:ext cx="3429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6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3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600" y="733425"/>
            <a:ext cx="115824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lus Jakarta Sans"/>
              </a:rPr>
              <a:t>The 3 Core Network Topologies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4155281"/>
            <a:ext cx="37920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Bus Topology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4622006"/>
            <a:ext cx="3611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Single Backbone Cable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4993481"/>
            <a:ext cx="298445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All computers connect to one continuous central communication line with terminators at both ends.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1325" y="4155281"/>
            <a:ext cx="37920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Star Topology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1325" y="4622006"/>
            <a:ext cx="3611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ADE80"/>
                </a:solidFill>
                <a:latin typeface="Plus Jakarta Sans"/>
              </a:rPr>
              <a:t>Central Switch /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1325" y="4993481"/>
            <a:ext cx="29844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All computers connect independently to a single central network switch or hub.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7775" y="4155281"/>
            <a:ext cx="379207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Tree Topology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7775" y="4622006"/>
            <a:ext cx="3611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BBF24"/>
                </a:solidFill>
                <a:latin typeface="Plus Jakarta Sans"/>
              </a:rPr>
              <a:t>Hierarchical Branches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7775" y="4993481"/>
            <a:ext cx="29844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Combines Star clusters connected together along a main central backbone trunk.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8200" y="3721893"/>
            <a:ext cx="1381125" cy="295275"/>
          </a:xfrm>
          <a:prstGeom prst="rect">
            <a:avLst/>
          </a:prstGeom>
          <a:solidFill>
            <a:srgbClr val="0F2942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TOPOLOGY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6075" y="3721893"/>
            <a:ext cx="1409700" cy="295275"/>
          </a:xfrm>
          <a:prstGeom prst="rect">
            <a:avLst/>
          </a:prstGeom>
          <a:solidFill>
            <a:srgbClr val="064E3B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ADE80"/>
                </a:solidFill>
                <a:latin typeface="Plus Jakarta Sans"/>
              </a:rPr>
              <a:t>TOPOLOGY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2526" y="3721893"/>
            <a:ext cx="1409700" cy="295275"/>
          </a:xfrm>
          <a:prstGeom prst="rect">
            <a:avLst/>
          </a:prstGeom>
          <a:solidFill>
            <a:srgbClr val="451A03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BBF24"/>
                </a:solidFill>
                <a:latin typeface="Plus Jakarta Sans"/>
              </a:rPr>
              <a:t>TOPOLOGY 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10275"/>
            <a:ext cx="10972800" cy="466725"/>
          </a:xfrm>
          <a:prstGeom prst="roundRect">
            <a:avLst>
              <a:gd name="adj" fmla="val 20408"/>
            </a:avLst>
          </a:prstGeom>
          <a:solidFill>
            <a:srgbClr val="2A1B04"/>
          </a:solidFill>
          <a:ln w="9525">
            <a:solidFill>
              <a:srgbClr val="783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63125" y="547687"/>
            <a:ext cx="1819275" cy="390525"/>
          </a:xfrm>
          <a:prstGeom prst="roundRect">
            <a:avLst>
              <a:gd name="adj" fmla="val 50000"/>
            </a:avLst>
          </a:prstGeom>
          <a:solidFill>
            <a:srgbClr val="0F2942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71282" y="2010072"/>
            <a:ext cx="5611117" cy="1809154"/>
          </a:xfrm>
          <a:prstGeom prst="roundRect">
            <a:avLst>
              <a:gd name="adj" fmla="val 6317"/>
            </a:avLst>
          </a:prstGeom>
          <a:solidFill>
            <a:srgbClr val="0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71282" y="2010072"/>
            <a:ext cx="57150" cy="180915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71282" y="3933527"/>
            <a:ext cx="2738883" cy="1171575"/>
          </a:xfrm>
          <a:prstGeom prst="roundRect">
            <a:avLst>
              <a:gd name="adj" fmla="val 8130"/>
            </a:avLst>
          </a:prstGeom>
          <a:solidFill>
            <a:srgbClr val="064E3B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43516" y="3933527"/>
            <a:ext cx="2738883" cy="1171575"/>
          </a:xfrm>
          <a:prstGeom prst="roundRect">
            <a:avLst>
              <a:gd name="adj" fmla="val 8130"/>
            </a:avLst>
          </a:prstGeom>
          <a:solidFill>
            <a:srgbClr val="450A0A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8337"/>
            <a:ext cx="5094982" cy="3238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53625" y="623887"/>
            <a:ext cx="15335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KEY: TERMINATOR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6134100"/>
            <a:ext cx="606416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dirty="0">
                <a:solidFill>
                  <a:srgbClr val="FBBF24"/>
                </a:solidFill>
                <a:latin typeface="Plus Jakarta Sans"/>
              </a:rPr>
              <a:t>Note</a:t>
            </a:r>
            <a:r>
              <a:rPr sz="1350" b="1" i="0" u="none" dirty="0">
                <a:solidFill>
                  <a:srgbClr val="FBBF24"/>
                </a:solidFill>
                <a:latin typeface="Plus Jakarta Sans"/>
              </a:rPr>
              <a:t>:</a:t>
            </a:r>
            <a:r>
              <a:rPr sz="1350" b="1" i="0" u="none" dirty="0">
                <a:solidFill>
                  <a:srgbClr val="FFFFFF"/>
                </a:solidFill>
                <a:latin typeface="Plus Jakarta Sans"/>
              </a:rPr>
              <a:t> Terminators absorb electrical signals at cable ends to prevent signal reflection.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8524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SINGLE BACKBONE 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19125"/>
            <a:ext cx="8951118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Bus Topology — Structure &amp;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932" y="2162472"/>
            <a:ext cx="190436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38BDF8"/>
                </a:solidFill>
                <a:latin typeface="Plus Jakarta Sans"/>
              </a:rPr>
              <a:t>WORKING MECHANISM</a:t>
            </a:r>
            <a:endParaRPr sz="150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8932" y="2467272"/>
            <a:ext cx="5268217" cy="1199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i="0" u="none" dirty="0">
                <a:solidFill>
                  <a:srgbClr val="BAE6FD"/>
                </a:solidFill>
                <a:latin typeface="Plus Jakarta Sans"/>
              </a:rPr>
              <a:t>1. Broadcast Signal: Sender transmits data along the backbone cable.</a:t>
            </a:r>
            <a:r>
              <a:rPr lang="en-US" dirty="0"/>
              <a:t>
</a:t>
            </a:r>
            <a:r>
              <a:rPr lang="en-US" sz="1350" b="1" i="0" u="none" dirty="0">
                <a:solidFill>
                  <a:srgbClr val="BAE6FD"/>
                </a:solidFill>
                <a:latin typeface="Plus Jakarta Sans"/>
              </a:rPr>
              <a:t>2. Address Verification: Nodes inspect target MAC address.</a:t>
            </a:r>
            <a:r>
              <a:rPr lang="en-US" dirty="0"/>
              <a:t>
</a:t>
            </a:r>
            <a:r>
              <a:rPr lang="en-US" sz="1350" b="1" i="0" u="none" dirty="0">
                <a:solidFill>
                  <a:srgbClr val="BAE6FD"/>
                </a:solidFill>
                <a:latin typeface="Plus Jakarta Sans"/>
              </a:rPr>
              <a:t>3. Signal Absorption: Terminators absorb signals at cable ends.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4157" y="4076402"/>
            <a:ext cx="32197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ADE80"/>
                </a:solidFill>
                <a:latin typeface="Plus Jakarta Sans"/>
              </a:rPr>
              <a:t>PROS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4157" y="4333577"/>
            <a:ext cx="254838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A7F3D0"/>
                </a:solidFill>
                <a:latin typeface="Plus Jakarta Sans"/>
              </a:rPr>
              <a:t>• Minimum cable required.</a:t>
            </a:r>
            <a:r>
              <a:rPr dirty="0"/>
              <a:t>
</a:t>
            </a:r>
            <a:r>
              <a:rPr sz="1275" b="1" i="0" u="none" dirty="0">
                <a:solidFill>
                  <a:srgbClr val="A7F3D0"/>
                </a:solidFill>
                <a:latin typeface="Plus Jakarta Sans"/>
              </a:rPr>
              <a:t> • Low setup cost for small labs.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391" y="4076402"/>
            <a:ext cx="320560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7171"/>
                </a:solidFill>
                <a:latin typeface="Plus Jakarta Sans"/>
              </a:rPr>
              <a:t>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6391" y="4333577"/>
            <a:ext cx="254838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FECACA"/>
                </a:solidFill>
                <a:latin typeface="Plus Jakarta Sans"/>
              </a:rPr>
              <a:t>• Backbone break fails network.</a:t>
            </a:r>
            <a:r>
              <a:rPr dirty="0"/>
              <a:t>
</a:t>
            </a:r>
            <a:r>
              <a:rPr sz="1275" b="1" i="0" u="none" dirty="0">
                <a:solidFill>
                  <a:srgbClr val="FECACA"/>
                </a:solidFill>
                <a:latin typeface="Plus Jakarta Sans"/>
              </a:rPr>
              <a:t> • Collisions under heavy traffic.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9D97D7-B7D2-D2B7-D52B-61145CA8A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15" y="1874879"/>
            <a:ext cx="5249167" cy="330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10275"/>
            <a:ext cx="10972800" cy="466725"/>
          </a:xfrm>
          <a:prstGeom prst="roundRect">
            <a:avLst>
              <a:gd name="adj" fmla="val 20408"/>
            </a:avLst>
          </a:prstGeom>
          <a:solidFill>
            <a:srgbClr val="0F2942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20225" y="547687"/>
            <a:ext cx="2162175" cy="390525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71282" y="2010072"/>
            <a:ext cx="5611117" cy="1809154"/>
          </a:xfrm>
          <a:prstGeom prst="roundRect">
            <a:avLst>
              <a:gd name="adj" fmla="val 6317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71282" y="2010072"/>
            <a:ext cx="57150" cy="180915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71282" y="3933527"/>
            <a:ext cx="2738883" cy="1171575"/>
          </a:xfrm>
          <a:prstGeom prst="roundRect">
            <a:avLst>
              <a:gd name="adj" fmla="val 8130"/>
            </a:avLst>
          </a:prstGeom>
          <a:solidFill>
            <a:srgbClr val="064E3B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43516" y="3933527"/>
            <a:ext cx="2738883" cy="1171575"/>
          </a:xfrm>
          <a:prstGeom prst="roundRect">
            <a:avLst>
              <a:gd name="adj" fmla="val 8130"/>
            </a:avLst>
          </a:prstGeom>
          <a:solidFill>
            <a:srgbClr val="450A0A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8337"/>
            <a:ext cx="5094982" cy="3238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10725" y="623887"/>
            <a:ext cx="18764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ADE80"/>
                </a:solidFill>
                <a:latin typeface="Plus Jakarta Sans"/>
              </a:rPr>
              <a:t>KEY: CENTRAL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6134100"/>
            <a:ext cx="11382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Real Lab Standard:</a:t>
            </a:r>
            <a:r>
              <a:rPr sz="1350" b="1" i="0" u="none" dirty="0">
                <a:solidFill>
                  <a:srgbClr val="FFFFFF"/>
                </a:solidFill>
                <a:latin typeface="Plus Jakarta Sans"/>
              </a:rPr>
              <a:t> Most school computer labs deploy Star Topology for easy troubleshooting.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8620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ADE80"/>
                </a:solidFill>
                <a:latin typeface="Plus Jakarta Sans"/>
              </a:rPr>
              <a:t>CENTRALIZED CONTROL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19125"/>
            <a:ext cx="9051131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Star Topology — Structure &amp;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932" y="2162472"/>
            <a:ext cx="190436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4ADE80"/>
                </a:solidFill>
                <a:latin typeface="Plus Jakarta Sans"/>
              </a:rPr>
              <a:t>WORKING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8932" y="2467272"/>
            <a:ext cx="5268217" cy="1199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A7F3D0"/>
                </a:solidFill>
                <a:latin typeface="Plus Jakarta Sans"/>
              </a:rPr>
              <a:t>1. Point-to-Point Link: PC sends packet directly to central Switch.</a:t>
            </a:r>
            <a:r>
              <a:t>
</a:t>
            </a:r>
            <a:r>
              <a:rPr sz="1350" b="1" i="0" u="none">
                <a:solidFill>
                  <a:srgbClr val="A7F3D0"/>
                </a:solidFill>
                <a:latin typeface="Plus Jakarta Sans"/>
              </a:rPr>
              <a:t>2. Address Switching: Switch reads MAC address and routes directly.</a:t>
            </a:r>
            <a:r>
              <a:t>
</a:t>
            </a:r>
            <a:r>
              <a:rPr sz="1350" b="1" i="0" u="none">
                <a:solidFill>
                  <a:srgbClr val="A7F3D0"/>
                </a:solidFill>
                <a:latin typeface="Plus Jakarta Sans"/>
              </a:rPr>
              <a:t>3. Fault Isolation: Cable failure on 1 PC doesn't affect 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4157" y="4076402"/>
            <a:ext cx="32197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ADE80"/>
                </a:solidFill>
                <a:latin typeface="Plus Jakarta Sans"/>
              </a:rPr>
              <a:t>PROS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4157" y="4333577"/>
            <a:ext cx="2548383" cy="473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75" b="1" i="0" u="none" dirty="0">
                <a:solidFill>
                  <a:srgbClr val="A7F3D0"/>
                </a:solidFill>
                <a:latin typeface="Plus Jakarta Sans"/>
              </a:rPr>
              <a:t> </a:t>
            </a:r>
            <a:r>
              <a:rPr sz="1275" b="1" i="0" u="none" dirty="0">
                <a:solidFill>
                  <a:srgbClr val="A7F3D0"/>
                </a:solidFill>
                <a:latin typeface="Plus Jakarta Sans"/>
              </a:rPr>
              <a:t>• Easy fault detection.</a:t>
            </a:r>
            <a:r>
              <a:rPr dirty="0"/>
              <a:t>
</a:t>
            </a:r>
            <a:r>
              <a:rPr sz="1275" b="1" i="0" u="none" dirty="0">
                <a:solidFill>
                  <a:srgbClr val="A7F3D0"/>
                </a:solidFill>
                <a:latin typeface="Plus Jakarta Sans"/>
              </a:rPr>
              <a:t> • 1 PC failure won't stop lab.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391" y="4076402"/>
            <a:ext cx="320560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7171"/>
                </a:solidFill>
                <a:latin typeface="Plus Jakarta Sans"/>
              </a:rPr>
              <a:t>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6391" y="4333577"/>
            <a:ext cx="2548383" cy="473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75" b="1" i="0" u="none" dirty="0">
                <a:solidFill>
                  <a:srgbClr val="FECACA"/>
                </a:solidFill>
                <a:latin typeface="Plus Jakarta Sans"/>
              </a:rPr>
              <a:t> </a:t>
            </a:r>
            <a:r>
              <a:rPr sz="1275" b="1" i="0" u="none" dirty="0">
                <a:solidFill>
                  <a:srgbClr val="FECACA"/>
                </a:solidFill>
                <a:latin typeface="Plus Jakarta Sans"/>
              </a:rPr>
              <a:t>• Switch failure downs whole lab.</a:t>
            </a:r>
            <a:r>
              <a:rPr dirty="0"/>
              <a:t>
</a:t>
            </a:r>
            <a:r>
              <a:rPr sz="1275" b="1" i="0" u="none" dirty="0">
                <a:solidFill>
                  <a:srgbClr val="FECACA"/>
                </a:solidFill>
                <a:latin typeface="Plus Jakarta Sans"/>
              </a:rPr>
              <a:t> • Higher cabling cost.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BD2DB2A-C8CE-F55E-DCD6-A8FE9E90D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5" y="1938337"/>
            <a:ext cx="5282956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10275"/>
            <a:ext cx="10972800" cy="466725"/>
          </a:xfrm>
          <a:prstGeom prst="roundRect">
            <a:avLst>
              <a:gd name="adj" fmla="val 20408"/>
            </a:avLst>
          </a:prstGeom>
          <a:solidFill>
            <a:srgbClr val="451A03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53550" y="547687"/>
            <a:ext cx="2228850" cy="390525"/>
          </a:xfrm>
          <a:prstGeom prst="roundRect">
            <a:avLst>
              <a:gd name="adj" fmla="val 50000"/>
            </a:avLst>
          </a:prstGeom>
          <a:solidFill>
            <a:srgbClr val="451A03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71282" y="1890117"/>
            <a:ext cx="5611117" cy="2049065"/>
          </a:xfrm>
          <a:prstGeom prst="roundRect">
            <a:avLst>
              <a:gd name="adj" fmla="val 5578"/>
            </a:avLst>
          </a:prstGeom>
          <a:solidFill>
            <a:srgbClr val="451A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71282" y="1890117"/>
            <a:ext cx="57150" cy="204906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71282" y="4053482"/>
            <a:ext cx="2738883" cy="1171575"/>
          </a:xfrm>
          <a:prstGeom prst="roundRect">
            <a:avLst>
              <a:gd name="adj" fmla="val 8130"/>
            </a:avLst>
          </a:prstGeom>
          <a:solidFill>
            <a:srgbClr val="064E3B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43516" y="4053482"/>
            <a:ext cx="2738883" cy="1171575"/>
          </a:xfrm>
          <a:prstGeom prst="roundRect">
            <a:avLst>
              <a:gd name="adj" fmla="val 8130"/>
            </a:avLst>
          </a:prstGeom>
          <a:solidFill>
            <a:srgbClr val="450A0A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8337"/>
            <a:ext cx="5094982" cy="3238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44050" y="623887"/>
            <a:ext cx="19431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BBF24"/>
                </a:solidFill>
                <a:latin typeface="Plus Jakarta Sans"/>
              </a:rPr>
              <a:t>KEY: STAR + BUS TRUNK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6134100"/>
            <a:ext cx="743152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FBBF24"/>
                </a:solidFill>
                <a:latin typeface="Plus Jakarta Sans"/>
              </a:rPr>
              <a:t>Note</a:t>
            </a:r>
            <a:r>
              <a:rPr sz="1350" b="1" i="0" u="none" dirty="0">
                <a:solidFill>
                  <a:srgbClr val="FBBF24"/>
                </a:solidFill>
                <a:latin typeface="Plus Jakarta Sans"/>
              </a:rPr>
              <a:t>:</a:t>
            </a:r>
            <a:r>
              <a:rPr sz="1350" b="1" i="0" u="none" dirty="0">
                <a:solidFill>
                  <a:srgbClr val="FFFFFF"/>
                </a:solidFill>
                <a:latin typeface="Plus Jakarta Sans"/>
              </a:rPr>
              <a:t> Tree Topology = Bus Topology + Star Topology (Star clusters connected along a central backbone).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8643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BBF24"/>
                </a:solidFill>
                <a:latin typeface="Plus Jakarta Sans"/>
              </a:rPr>
              <a:t>HIERARCHICAL BRANCHES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19125"/>
            <a:ext cx="9076134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Tree Topology — Structure &amp;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932" y="2042517"/>
            <a:ext cx="194764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BBF24"/>
                </a:solidFill>
                <a:latin typeface="Plus Jakarta Sans"/>
              </a:rPr>
              <a:t> WORKING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8932" y="2347317"/>
            <a:ext cx="5268217" cy="71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 dirty="0">
                <a:solidFill>
                  <a:srgbClr val="FDE68A"/>
                </a:solidFill>
                <a:latin typeface="Plus Jakarta Sans"/>
              </a:rPr>
              <a:t>1. Local Cluster Routing: Intra-building traffic stays in local switch.</a:t>
            </a:r>
            <a:r>
              <a:rPr dirty="0"/>
              <a:t>
</a:t>
            </a:r>
            <a:r>
              <a:rPr sz="1350" b="1" i="0" u="none" dirty="0">
                <a:solidFill>
                  <a:srgbClr val="FDE68A"/>
                </a:solidFill>
                <a:latin typeface="Plus Jakarta Sans"/>
              </a:rPr>
              <a:t>2. Inter-Branch </a:t>
            </a:r>
            <a:r>
              <a:rPr lang="en-US" sz="1350" b="1" dirty="0" err="1">
                <a:solidFill>
                  <a:srgbClr val="FDE68A"/>
                </a:solidFill>
                <a:latin typeface="Plus Jakarta Sans"/>
              </a:rPr>
              <a:t>Trunking</a:t>
            </a:r>
            <a:r>
              <a:rPr sz="1350" b="1" i="0" u="none" dirty="0">
                <a:solidFill>
                  <a:srgbClr val="FDE68A"/>
                </a:solidFill>
                <a:latin typeface="Plus Jakarta Sans"/>
              </a:rPr>
              <a:t>: External data passes up central trunk.</a:t>
            </a:r>
            <a:r>
              <a:rPr dirty="0"/>
              <a:t>
</a:t>
            </a:r>
            <a:r>
              <a:rPr sz="1350" b="1" i="0" u="none" dirty="0">
                <a:solidFill>
                  <a:srgbClr val="FDE68A"/>
                </a:solidFill>
                <a:latin typeface="Plus Jakarta Sans"/>
              </a:rPr>
              <a:t>3. Tiered Scalability: New Star clusters easily attach to trunk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4157" y="4196357"/>
            <a:ext cx="32197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ADE80"/>
                </a:solidFill>
                <a:latin typeface="Plus Jakarta Sans"/>
              </a:rPr>
              <a:t>PROS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4157" y="4453532"/>
            <a:ext cx="254838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A7F3D0"/>
                </a:solidFill>
                <a:latin typeface="Plus Jakarta Sans"/>
              </a:rPr>
              <a:t>• Highly scalable for campuses.</a:t>
            </a:r>
            <a:r>
              <a:t>
</a:t>
            </a:r>
            <a:r>
              <a:rPr sz="1275" b="1" i="0" u="none">
                <a:solidFill>
                  <a:srgbClr val="A7F3D0"/>
                </a:solidFill>
                <a:latin typeface="Plus Jakarta Sans"/>
              </a:rPr>
              <a:t> • Isolates faults by branch.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391" y="4196357"/>
            <a:ext cx="320560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7171"/>
                </a:solidFill>
                <a:latin typeface="Plus Jakarta Sans"/>
              </a:rPr>
              <a:t>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6391" y="4453532"/>
            <a:ext cx="254838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ECACA"/>
                </a:solidFill>
                <a:latin typeface="Plus Jakarta Sans"/>
              </a:rPr>
              <a:t>• High cable &amp; device cost.</a:t>
            </a:r>
            <a:r>
              <a:t>
</a:t>
            </a:r>
            <a:r>
              <a:rPr sz="1275" b="1" i="0" u="none">
                <a:solidFill>
                  <a:srgbClr val="FECACA"/>
                </a:solidFill>
                <a:latin typeface="Plus Jakarta Sans"/>
              </a:rPr>
              <a:t> • Main trunk failure disconnects branches.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578B5E-DCFA-D104-DD8A-02170B1C0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29400"/>
            <a:ext cx="5106298" cy="32474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24225"/>
            <a:ext cx="10972800" cy="2924175"/>
          </a:xfrm>
          <a:prstGeom prst="roundRect">
            <a:avLst>
              <a:gd name="adj" fmla="val 5211"/>
            </a:avLst>
          </a:prstGeom>
          <a:noFill/>
          <a:ln w="285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38175" y="3352800"/>
          <a:ext cx="10915648" cy="2867025"/>
        </p:xfrm>
        <a:graphic>
          <a:graphicData uri="http://schemas.openxmlformats.org/drawingml/2006/table">
            <a:tbl>
              <a:tblPr/>
              <a:tblGrid>
                <a:gridCol w="2401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8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40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Bus Topology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4ADE80"/>
                          </a:solidFill>
                          <a:latin typeface="Plus Jakarta Sans"/>
                        </a:rPr>
                        <a:t>Star Topology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BF24"/>
                          </a:solidFill>
                          <a:latin typeface="Plus Jakarta Sans"/>
                        </a:rPr>
                        <a:t>Tree Topology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1A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Central 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Single Cable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Switch / 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Hierarchical Trunk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Cable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ADE80"/>
                          </a:solidFill>
                          <a:latin typeface="Plus Jakarta Sans"/>
                        </a:rPr>
                        <a:t>Lowest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Moderate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High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Fault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Cable break downs 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ADE80"/>
                          </a:solidFill>
                          <a:latin typeface="Plus Jakarta Sans"/>
                        </a:rPr>
                        <a:t>Only 1 PC affected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Branch isolated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Ideal Use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Small office / Home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School Computer Lab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Multi-building Campus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733425"/>
            <a:ext cx="115824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lus Jakarta Sans"/>
              </a:rPr>
              <a:t>Direct Comparison: Bus vs Star vs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48025"/>
            <a:ext cx="10972800" cy="885825"/>
          </a:xfrm>
          <a:prstGeom prst="roundRect">
            <a:avLst>
              <a:gd name="adj" fmla="val 17204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305300"/>
            <a:ext cx="10972800" cy="885825"/>
          </a:xfrm>
          <a:prstGeom prst="roundRect">
            <a:avLst>
              <a:gd name="adj" fmla="val 17204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362575"/>
            <a:ext cx="10972800" cy="885825"/>
          </a:xfrm>
          <a:prstGeom prst="roundRect">
            <a:avLst>
              <a:gd name="adj" fmla="val 17204"/>
            </a:avLst>
          </a:prstGeom>
          <a:solidFill>
            <a:srgbClr val="131C2E"/>
          </a:solidFill>
          <a:ln w="1905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72575" y="3457575"/>
            <a:ext cx="2124075" cy="466725"/>
          </a:xfrm>
          <a:prstGeom prst="roundRect">
            <a:avLst>
              <a:gd name="adj" fmla="val 24489"/>
            </a:avLst>
          </a:prstGeom>
          <a:solidFill>
            <a:srgbClr val="064E3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01150" y="4529680"/>
            <a:ext cx="1857375" cy="466725"/>
          </a:xfrm>
          <a:prstGeom prst="roundRect">
            <a:avLst>
              <a:gd name="adj" fmla="val 24489"/>
            </a:avLst>
          </a:prstGeom>
          <a:solidFill>
            <a:srgbClr val="0C2A4A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9201150" y="5572125"/>
            <a:ext cx="2095500" cy="466725"/>
          </a:xfrm>
          <a:prstGeom prst="roundRect">
            <a:avLst>
              <a:gd name="adj" fmla="val 24489"/>
            </a:avLst>
          </a:prstGeom>
          <a:solidFill>
            <a:srgbClr val="451A03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733425"/>
            <a:ext cx="4980594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FFFFFF"/>
                </a:solidFill>
                <a:latin typeface="Plus Jakarta Sans"/>
              </a:rPr>
              <a:t>Some </a:t>
            </a:r>
            <a:r>
              <a:rPr lang="en-US" sz="3300" b="1" i="0" u="none">
                <a:solidFill>
                  <a:srgbClr val="FFFFFF"/>
                </a:solidFill>
                <a:latin typeface="Plus Jakarta Sans"/>
              </a:rPr>
              <a:t>Important Questions:-</a:t>
            </a:r>
            <a:endParaRPr sz="33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1175" y="3552825"/>
            <a:ext cx="17621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ADE80"/>
                </a:solidFill>
                <a:latin typeface="Plus Jakarta Sans"/>
              </a:rPr>
              <a:t>STAR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6899" y="4679428"/>
            <a:ext cx="14954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8BDF8"/>
                </a:solidFill>
                <a:latin typeface="Plus Jakarta Sans"/>
              </a:rPr>
              <a:t>TERMINATORS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0" y="5667375"/>
            <a:ext cx="17335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BBF24"/>
                </a:solidFill>
                <a:latin typeface="Plus Jakarta Sans"/>
              </a:rPr>
              <a:t>TREE 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557587"/>
            <a:ext cx="9001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Q1: Which topology connects all workstations to a central Switch/Hub?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614862"/>
            <a:ext cx="78224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Q2: What hardware prevents signal bounce in a Bus topology?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5672137"/>
            <a:ext cx="87391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Q3: Which topology is best for a large multi-building school campus?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229225"/>
            <a:ext cx="10972800" cy="1133475"/>
          </a:xfrm>
          <a:prstGeom prst="roundRect">
            <a:avLst>
              <a:gd name="adj" fmla="val 16806"/>
            </a:avLst>
          </a:prstGeom>
          <a:solidFill>
            <a:srgbClr val="0C2A4A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636639"/>
            <a:ext cx="3479750" cy="1451371"/>
          </a:xfrm>
          <a:prstGeom prst="roundRect">
            <a:avLst>
              <a:gd name="adj" fmla="val 105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56050" y="2636639"/>
            <a:ext cx="3479750" cy="1451371"/>
          </a:xfrm>
          <a:prstGeom prst="roundRect">
            <a:avLst>
              <a:gd name="adj" fmla="val 105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02500" y="2636639"/>
            <a:ext cx="3479750" cy="1451371"/>
          </a:xfrm>
          <a:prstGeom prst="roundRect">
            <a:avLst>
              <a:gd name="adj" fmla="val 10500"/>
            </a:avLst>
          </a:prstGeom>
          <a:solidFill>
            <a:srgbClr val="13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068960"/>
            <a:ext cx="34797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636639"/>
            <a:ext cx="347975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2636639"/>
            <a:ext cx="19050" cy="14513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70300" y="2636639"/>
            <a:ext cx="19050" cy="14513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6050" y="4068960"/>
            <a:ext cx="34797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6050" y="2636639"/>
            <a:ext cx="3479750" cy="571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56050" y="2636639"/>
            <a:ext cx="19050" cy="14513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6750" y="2636639"/>
            <a:ext cx="19050" cy="14513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2500" y="4068960"/>
            <a:ext cx="3479750" cy="19050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2500" y="2636639"/>
            <a:ext cx="3479750" cy="571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2500" y="2636639"/>
            <a:ext cx="19050" cy="14513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63201" y="2636639"/>
            <a:ext cx="19050" cy="1451371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942975"/>
            <a:ext cx="1752083" cy="530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50" b="1" i="0" u="none" dirty="0">
                <a:solidFill>
                  <a:srgbClr val="FFFFFF"/>
                </a:solidFill>
                <a:latin typeface="Plus Jakarta Sans"/>
              </a:rPr>
              <a:t>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960489"/>
            <a:ext cx="381707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lus Jakarta Sans"/>
              </a:rPr>
              <a:t>Bus Topology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3322439"/>
            <a:ext cx="3003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Single backbone cable. Best for low budget small setups.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1800" y="2960489"/>
            <a:ext cx="381707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ADE80"/>
                </a:solidFill>
                <a:latin typeface="Plus Jakarta Sans"/>
              </a:rPr>
              <a:t>Star Topology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1800" y="3322439"/>
            <a:ext cx="3003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Central Switch. Standard for school computer labs.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8250" y="2960489"/>
            <a:ext cx="380374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BBF24"/>
                </a:solidFill>
                <a:latin typeface="Plus Jakarta Sans"/>
              </a:rPr>
              <a:t>Tree Topology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8250" y="3322439"/>
            <a:ext cx="3003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Hierarchical combo. Ideal for large campus networks.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5476875"/>
            <a:ext cx="8051006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" y="5876925"/>
            <a:ext cx="766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0F2FE"/>
                </a:solidFill>
                <a:latin typeface="Plus Jakarta Sans"/>
              </a:rPr>
              <a:t>Any questions or discussion points from the teacher or classmates?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836</Words>
  <Application>Microsoft Office PowerPoint</Application>
  <PresentationFormat>Widescreen</PresentationFormat>
  <Paragraphs>120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Devesh P Anil(00013810544)</cp:lastModifiedBy>
  <cp:revision>28</cp:revision>
  <dcterms:created xsi:type="dcterms:W3CDTF">2013-01-27T09:14:16Z</dcterms:created>
  <dcterms:modified xsi:type="dcterms:W3CDTF">2026-10-04T15:02:44Z</dcterms:modified>
  <cp:category/>
</cp:coreProperties>
</file>